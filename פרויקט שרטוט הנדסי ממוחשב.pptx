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78C338-7471-4AFA-B57B-D129D3F6D3F1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B21E7AC-A85A-44D6-B1A9-6983BA90B506}">
      <dgm:prSet/>
      <dgm:spPr/>
      <dgm:t>
        <a:bodyPr/>
        <a:lstStyle/>
        <a:p>
          <a:pPr algn="r"/>
          <a:r>
            <a: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מדובר בסכך תלוי על קיר בעל מנגנון פריסה וקיפול.  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DA6D404-0A1F-490A-9C5B-81FBA5515414}" type="parTrans" cxnId="{C4980609-491E-404C-9F33-D68E240B7AD0}">
      <dgm:prSet/>
      <dgm:spPr/>
      <dgm:t>
        <a:bodyPr/>
        <a:lstStyle/>
        <a:p>
          <a:endParaRPr lang="en-US"/>
        </a:p>
      </dgm:t>
    </dgm:pt>
    <dgm:pt modelId="{96BD5C52-0897-429D-A9A6-8452E92E4F69}" type="sibTrans" cxnId="{C4980609-491E-404C-9F33-D68E240B7AD0}">
      <dgm:prSet/>
      <dgm:spPr/>
      <dgm:t>
        <a:bodyPr/>
        <a:lstStyle/>
        <a:p>
          <a:endParaRPr lang="en-US"/>
        </a:p>
      </dgm:t>
    </dgm:pt>
    <dgm:pt modelId="{4C582C12-1392-4EA7-BE8D-4EE5CA36C7F5}">
      <dgm:prSet/>
      <dgm:spPr/>
      <dgm:t>
        <a:bodyPr/>
        <a:lstStyle/>
        <a:p>
          <a:pPr algn="r"/>
          <a:r>
            <a: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המבנה כולל ארבע זרועות מתקפלות שמותחות את הבד בזמן הפתיחה ושני מוטות מקבילים שמחזיקים אותו מתוח.  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260F106-1DC3-42C0-AAA8-C67EC91B6D7B}" type="parTrans" cxnId="{1CFA8E97-BA5E-475D-8057-412A1E7C94C9}">
      <dgm:prSet/>
      <dgm:spPr/>
      <dgm:t>
        <a:bodyPr/>
        <a:lstStyle/>
        <a:p>
          <a:endParaRPr lang="en-US"/>
        </a:p>
      </dgm:t>
    </dgm:pt>
    <dgm:pt modelId="{EA6D37AF-DE6B-41CD-9265-BFC2E03BB783}" type="sibTrans" cxnId="{1CFA8E97-BA5E-475D-8057-412A1E7C94C9}">
      <dgm:prSet/>
      <dgm:spPr/>
      <dgm:t>
        <a:bodyPr/>
        <a:lstStyle/>
        <a:p>
          <a:endParaRPr lang="en-US"/>
        </a:p>
      </dgm:t>
    </dgm:pt>
    <dgm:pt modelId="{0CC4DB84-43EF-417F-B49C-6D3C5C51481A}">
      <dgm:prSet/>
      <dgm:spPr/>
      <dgm:t>
        <a:bodyPr/>
        <a:lstStyle/>
        <a:p>
          <a:pPr algn="r"/>
          <a:r>
            <a: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למוטות יש חיבורי קיר שמחברים אותם בבטחה למבנה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6DA6FC7-EDD4-40CD-9F5A-B1FE359AE6DF}" type="parTrans" cxnId="{16AD189C-AE3A-4BFF-9DD8-327236CF624A}">
      <dgm:prSet/>
      <dgm:spPr/>
      <dgm:t>
        <a:bodyPr/>
        <a:lstStyle/>
        <a:p>
          <a:endParaRPr lang="en-US"/>
        </a:p>
      </dgm:t>
    </dgm:pt>
    <dgm:pt modelId="{FB61CCC4-9AF1-4046-A620-A0D17C7B50F6}" type="sibTrans" cxnId="{16AD189C-AE3A-4BFF-9DD8-327236CF624A}">
      <dgm:prSet/>
      <dgm:spPr/>
      <dgm:t>
        <a:bodyPr/>
        <a:lstStyle/>
        <a:p>
          <a:endParaRPr lang="en-US"/>
        </a:p>
      </dgm:t>
    </dgm:pt>
    <dgm:pt modelId="{F12DE1F8-3EB2-416B-9533-ED79A084A15C}">
      <dgm:prSet/>
      <dgm:spPr/>
      <dgm:t>
        <a:bodyPr/>
        <a:lstStyle/>
        <a:p>
          <a:pPr algn="r"/>
          <a:r>
            <a: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הזרועות מחוברות באמצעות מחברים ייעודיים השומרים על זווית פתיחה מתכווננת בין 0 ל-89 מעלות, כך שניתן להתאים את ההצללה לפי הצורך.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CFC01A9-B498-4B90-9D8B-34FD1706A226}" type="parTrans" cxnId="{A5133CCA-1B57-44B0-8E6D-44FA19E21B76}">
      <dgm:prSet/>
      <dgm:spPr/>
      <dgm:t>
        <a:bodyPr/>
        <a:lstStyle/>
        <a:p>
          <a:endParaRPr lang="en-US"/>
        </a:p>
      </dgm:t>
    </dgm:pt>
    <dgm:pt modelId="{507CFA95-3A00-41A9-AC29-B8BA7A94B8B6}" type="sibTrans" cxnId="{A5133CCA-1B57-44B0-8E6D-44FA19E21B76}">
      <dgm:prSet/>
      <dgm:spPr/>
      <dgm:t>
        <a:bodyPr/>
        <a:lstStyle/>
        <a:p>
          <a:endParaRPr lang="en-US"/>
        </a:p>
      </dgm:t>
    </dgm:pt>
    <dgm:pt modelId="{63EB6ACF-D98F-4125-9F98-DFC681A96685}" type="pres">
      <dgm:prSet presAssocID="{F478C338-7471-4AFA-B57B-D129D3F6D3F1}" presName="outerComposite" presStyleCnt="0">
        <dgm:presLayoutVars>
          <dgm:chMax val="5"/>
          <dgm:dir/>
          <dgm:resizeHandles val="exact"/>
        </dgm:presLayoutVars>
      </dgm:prSet>
      <dgm:spPr/>
    </dgm:pt>
    <dgm:pt modelId="{9F9859EA-DD8A-431E-90E0-0C24A495DF55}" type="pres">
      <dgm:prSet presAssocID="{F478C338-7471-4AFA-B57B-D129D3F6D3F1}" presName="dummyMaxCanvas" presStyleCnt="0">
        <dgm:presLayoutVars/>
      </dgm:prSet>
      <dgm:spPr/>
    </dgm:pt>
    <dgm:pt modelId="{652A81A2-A197-43B2-B2E7-3C9A36A0B013}" type="pres">
      <dgm:prSet presAssocID="{F478C338-7471-4AFA-B57B-D129D3F6D3F1}" presName="FourNodes_1" presStyleLbl="node1" presStyleIdx="0" presStyleCnt="4">
        <dgm:presLayoutVars>
          <dgm:bulletEnabled val="1"/>
        </dgm:presLayoutVars>
      </dgm:prSet>
      <dgm:spPr/>
    </dgm:pt>
    <dgm:pt modelId="{F62F09FE-5420-4C5B-9A8F-6FE6EF745F5A}" type="pres">
      <dgm:prSet presAssocID="{F478C338-7471-4AFA-B57B-D129D3F6D3F1}" presName="FourNodes_2" presStyleLbl="node1" presStyleIdx="1" presStyleCnt="4">
        <dgm:presLayoutVars>
          <dgm:bulletEnabled val="1"/>
        </dgm:presLayoutVars>
      </dgm:prSet>
      <dgm:spPr/>
    </dgm:pt>
    <dgm:pt modelId="{19A99DEE-5C10-4D1D-AD46-2DA150CD9647}" type="pres">
      <dgm:prSet presAssocID="{F478C338-7471-4AFA-B57B-D129D3F6D3F1}" presName="FourNodes_3" presStyleLbl="node1" presStyleIdx="2" presStyleCnt="4">
        <dgm:presLayoutVars>
          <dgm:bulletEnabled val="1"/>
        </dgm:presLayoutVars>
      </dgm:prSet>
      <dgm:spPr/>
    </dgm:pt>
    <dgm:pt modelId="{8AA8C123-3DE1-499F-860E-B6E0C693C226}" type="pres">
      <dgm:prSet presAssocID="{F478C338-7471-4AFA-B57B-D129D3F6D3F1}" presName="FourNodes_4" presStyleLbl="node1" presStyleIdx="3" presStyleCnt="4">
        <dgm:presLayoutVars>
          <dgm:bulletEnabled val="1"/>
        </dgm:presLayoutVars>
      </dgm:prSet>
      <dgm:spPr/>
    </dgm:pt>
    <dgm:pt modelId="{420379FE-B724-40B7-AB1C-7BF956213037}" type="pres">
      <dgm:prSet presAssocID="{F478C338-7471-4AFA-B57B-D129D3F6D3F1}" presName="FourConn_1-2" presStyleLbl="fgAccFollowNode1" presStyleIdx="0" presStyleCnt="3">
        <dgm:presLayoutVars>
          <dgm:bulletEnabled val="1"/>
        </dgm:presLayoutVars>
      </dgm:prSet>
      <dgm:spPr/>
    </dgm:pt>
    <dgm:pt modelId="{2C8418CC-4DC9-4531-A313-175ADB27B8CE}" type="pres">
      <dgm:prSet presAssocID="{F478C338-7471-4AFA-B57B-D129D3F6D3F1}" presName="FourConn_2-3" presStyleLbl="fgAccFollowNode1" presStyleIdx="1" presStyleCnt="3">
        <dgm:presLayoutVars>
          <dgm:bulletEnabled val="1"/>
        </dgm:presLayoutVars>
      </dgm:prSet>
      <dgm:spPr/>
    </dgm:pt>
    <dgm:pt modelId="{964AF4CD-01FC-49C9-8E71-28381AA216CA}" type="pres">
      <dgm:prSet presAssocID="{F478C338-7471-4AFA-B57B-D129D3F6D3F1}" presName="FourConn_3-4" presStyleLbl="fgAccFollowNode1" presStyleIdx="2" presStyleCnt="3">
        <dgm:presLayoutVars>
          <dgm:bulletEnabled val="1"/>
        </dgm:presLayoutVars>
      </dgm:prSet>
      <dgm:spPr/>
    </dgm:pt>
    <dgm:pt modelId="{A0FD8A29-0A13-428E-B199-547D5465B354}" type="pres">
      <dgm:prSet presAssocID="{F478C338-7471-4AFA-B57B-D129D3F6D3F1}" presName="FourNodes_1_text" presStyleLbl="node1" presStyleIdx="3" presStyleCnt="4">
        <dgm:presLayoutVars>
          <dgm:bulletEnabled val="1"/>
        </dgm:presLayoutVars>
      </dgm:prSet>
      <dgm:spPr/>
    </dgm:pt>
    <dgm:pt modelId="{E1C01481-0AEF-4515-8686-636CA8BA6D36}" type="pres">
      <dgm:prSet presAssocID="{F478C338-7471-4AFA-B57B-D129D3F6D3F1}" presName="FourNodes_2_text" presStyleLbl="node1" presStyleIdx="3" presStyleCnt="4">
        <dgm:presLayoutVars>
          <dgm:bulletEnabled val="1"/>
        </dgm:presLayoutVars>
      </dgm:prSet>
      <dgm:spPr/>
    </dgm:pt>
    <dgm:pt modelId="{D5D45A0D-BCC9-4FB7-BCE7-B7D89D9D7171}" type="pres">
      <dgm:prSet presAssocID="{F478C338-7471-4AFA-B57B-D129D3F6D3F1}" presName="FourNodes_3_text" presStyleLbl="node1" presStyleIdx="3" presStyleCnt="4">
        <dgm:presLayoutVars>
          <dgm:bulletEnabled val="1"/>
        </dgm:presLayoutVars>
      </dgm:prSet>
      <dgm:spPr/>
    </dgm:pt>
    <dgm:pt modelId="{78B4AF9D-CD1F-4A23-8635-861C0AF8ECC9}" type="pres">
      <dgm:prSet presAssocID="{F478C338-7471-4AFA-B57B-D129D3F6D3F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4980609-491E-404C-9F33-D68E240B7AD0}" srcId="{F478C338-7471-4AFA-B57B-D129D3F6D3F1}" destId="{3B21E7AC-A85A-44D6-B1A9-6983BA90B506}" srcOrd="0" destOrd="0" parTransId="{CDA6D404-0A1F-490A-9C5B-81FBA5515414}" sibTransId="{96BD5C52-0897-429D-A9A6-8452E92E4F69}"/>
    <dgm:cxn modelId="{D53A8C17-685C-4136-95ED-ED2522322890}" type="presOf" srcId="{3B21E7AC-A85A-44D6-B1A9-6983BA90B506}" destId="{652A81A2-A197-43B2-B2E7-3C9A36A0B013}" srcOrd="0" destOrd="0" presId="urn:microsoft.com/office/officeart/2005/8/layout/vProcess5"/>
    <dgm:cxn modelId="{FC27895F-DD2D-4C6E-A56B-F0A8F60B38FA}" type="presOf" srcId="{FB61CCC4-9AF1-4046-A620-A0D17C7B50F6}" destId="{964AF4CD-01FC-49C9-8E71-28381AA216CA}" srcOrd="0" destOrd="0" presId="urn:microsoft.com/office/officeart/2005/8/layout/vProcess5"/>
    <dgm:cxn modelId="{1E64F867-721E-40BE-ADE8-3EF30B4621BF}" type="presOf" srcId="{F12DE1F8-3EB2-416B-9533-ED79A084A15C}" destId="{8AA8C123-3DE1-499F-860E-B6E0C693C226}" srcOrd="0" destOrd="0" presId="urn:microsoft.com/office/officeart/2005/8/layout/vProcess5"/>
    <dgm:cxn modelId="{73C26071-ABF1-464A-85DF-3408BD00FB41}" type="presOf" srcId="{F478C338-7471-4AFA-B57B-D129D3F6D3F1}" destId="{63EB6ACF-D98F-4125-9F98-DFC681A96685}" srcOrd="0" destOrd="0" presId="urn:microsoft.com/office/officeart/2005/8/layout/vProcess5"/>
    <dgm:cxn modelId="{FBD45274-7267-41FF-B5BB-B4E10C9E2C92}" type="presOf" srcId="{4C582C12-1392-4EA7-BE8D-4EE5CA36C7F5}" destId="{F62F09FE-5420-4C5B-9A8F-6FE6EF745F5A}" srcOrd="0" destOrd="0" presId="urn:microsoft.com/office/officeart/2005/8/layout/vProcess5"/>
    <dgm:cxn modelId="{2F3D5493-CF4B-405B-AA4B-ADFA354F4BF5}" type="presOf" srcId="{0CC4DB84-43EF-417F-B49C-6D3C5C51481A}" destId="{D5D45A0D-BCC9-4FB7-BCE7-B7D89D9D7171}" srcOrd="1" destOrd="0" presId="urn:microsoft.com/office/officeart/2005/8/layout/vProcess5"/>
    <dgm:cxn modelId="{1CFA8E97-BA5E-475D-8057-412A1E7C94C9}" srcId="{F478C338-7471-4AFA-B57B-D129D3F6D3F1}" destId="{4C582C12-1392-4EA7-BE8D-4EE5CA36C7F5}" srcOrd="1" destOrd="0" parTransId="{2260F106-1DC3-42C0-AAA8-C67EC91B6D7B}" sibTransId="{EA6D37AF-DE6B-41CD-9265-BFC2E03BB783}"/>
    <dgm:cxn modelId="{16AD189C-AE3A-4BFF-9DD8-327236CF624A}" srcId="{F478C338-7471-4AFA-B57B-D129D3F6D3F1}" destId="{0CC4DB84-43EF-417F-B49C-6D3C5C51481A}" srcOrd="2" destOrd="0" parTransId="{D6DA6FC7-EDD4-40CD-9F5A-B1FE359AE6DF}" sibTransId="{FB61CCC4-9AF1-4046-A620-A0D17C7B50F6}"/>
    <dgm:cxn modelId="{91F57FA2-4340-4748-9148-30917C0A88C5}" type="presOf" srcId="{0CC4DB84-43EF-417F-B49C-6D3C5C51481A}" destId="{19A99DEE-5C10-4D1D-AD46-2DA150CD9647}" srcOrd="0" destOrd="0" presId="urn:microsoft.com/office/officeart/2005/8/layout/vProcess5"/>
    <dgm:cxn modelId="{A5133CCA-1B57-44B0-8E6D-44FA19E21B76}" srcId="{F478C338-7471-4AFA-B57B-D129D3F6D3F1}" destId="{F12DE1F8-3EB2-416B-9533-ED79A084A15C}" srcOrd="3" destOrd="0" parTransId="{7CFC01A9-B498-4B90-9D8B-34FD1706A226}" sibTransId="{507CFA95-3A00-41A9-AC29-B8BA7A94B8B6}"/>
    <dgm:cxn modelId="{0987D3D2-3505-46D6-83B8-5B0BF8A173B3}" type="presOf" srcId="{96BD5C52-0897-429D-A9A6-8452E92E4F69}" destId="{420379FE-B724-40B7-AB1C-7BF956213037}" srcOrd="0" destOrd="0" presId="urn:microsoft.com/office/officeart/2005/8/layout/vProcess5"/>
    <dgm:cxn modelId="{9E12C2D5-14FE-4814-A485-DE1A5C995E8E}" type="presOf" srcId="{F12DE1F8-3EB2-416B-9533-ED79A084A15C}" destId="{78B4AF9D-CD1F-4A23-8635-861C0AF8ECC9}" srcOrd="1" destOrd="0" presId="urn:microsoft.com/office/officeart/2005/8/layout/vProcess5"/>
    <dgm:cxn modelId="{BF992ADD-9B08-4AE6-A88A-334474B17EB5}" type="presOf" srcId="{3B21E7AC-A85A-44D6-B1A9-6983BA90B506}" destId="{A0FD8A29-0A13-428E-B199-547D5465B354}" srcOrd="1" destOrd="0" presId="urn:microsoft.com/office/officeart/2005/8/layout/vProcess5"/>
    <dgm:cxn modelId="{86173CE4-ECD9-41E1-8895-1DFA5134F2E2}" type="presOf" srcId="{EA6D37AF-DE6B-41CD-9265-BFC2E03BB783}" destId="{2C8418CC-4DC9-4531-A313-175ADB27B8CE}" srcOrd="0" destOrd="0" presId="urn:microsoft.com/office/officeart/2005/8/layout/vProcess5"/>
    <dgm:cxn modelId="{F33956F3-8FCD-40F4-B5BB-D2DB6DCA8842}" type="presOf" srcId="{4C582C12-1392-4EA7-BE8D-4EE5CA36C7F5}" destId="{E1C01481-0AEF-4515-8686-636CA8BA6D36}" srcOrd="1" destOrd="0" presId="urn:microsoft.com/office/officeart/2005/8/layout/vProcess5"/>
    <dgm:cxn modelId="{B11B0DBF-FCC9-4354-98BF-47DF135CE736}" type="presParOf" srcId="{63EB6ACF-D98F-4125-9F98-DFC681A96685}" destId="{9F9859EA-DD8A-431E-90E0-0C24A495DF55}" srcOrd="0" destOrd="0" presId="urn:microsoft.com/office/officeart/2005/8/layout/vProcess5"/>
    <dgm:cxn modelId="{B1BDDE76-EBC1-4350-9F2E-21184AE73AE8}" type="presParOf" srcId="{63EB6ACF-D98F-4125-9F98-DFC681A96685}" destId="{652A81A2-A197-43B2-B2E7-3C9A36A0B013}" srcOrd="1" destOrd="0" presId="urn:microsoft.com/office/officeart/2005/8/layout/vProcess5"/>
    <dgm:cxn modelId="{29A8607D-54FE-43B6-9309-9B9E56CFB104}" type="presParOf" srcId="{63EB6ACF-D98F-4125-9F98-DFC681A96685}" destId="{F62F09FE-5420-4C5B-9A8F-6FE6EF745F5A}" srcOrd="2" destOrd="0" presId="urn:microsoft.com/office/officeart/2005/8/layout/vProcess5"/>
    <dgm:cxn modelId="{490C58FC-F21B-4CDA-8C7D-DB395518B661}" type="presParOf" srcId="{63EB6ACF-D98F-4125-9F98-DFC681A96685}" destId="{19A99DEE-5C10-4D1D-AD46-2DA150CD9647}" srcOrd="3" destOrd="0" presId="urn:microsoft.com/office/officeart/2005/8/layout/vProcess5"/>
    <dgm:cxn modelId="{391A8D35-AE2A-4FA8-8D50-ED4677146EF7}" type="presParOf" srcId="{63EB6ACF-D98F-4125-9F98-DFC681A96685}" destId="{8AA8C123-3DE1-499F-860E-B6E0C693C226}" srcOrd="4" destOrd="0" presId="urn:microsoft.com/office/officeart/2005/8/layout/vProcess5"/>
    <dgm:cxn modelId="{4E1453E9-44DD-46BF-9D3B-0D2BCC44CA38}" type="presParOf" srcId="{63EB6ACF-D98F-4125-9F98-DFC681A96685}" destId="{420379FE-B724-40B7-AB1C-7BF956213037}" srcOrd="5" destOrd="0" presId="urn:microsoft.com/office/officeart/2005/8/layout/vProcess5"/>
    <dgm:cxn modelId="{A8361009-BA68-497A-B25B-E150C41258E0}" type="presParOf" srcId="{63EB6ACF-D98F-4125-9F98-DFC681A96685}" destId="{2C8418CC-4DC9-4531-A313-175ADB27B8CE}" srcOrd="6" destOrd="0" presId="urn:microsoft.com/office/officeart/2005/8/layout/vProcess5"/>
    <dgm:cxn modelId="{EBF733ED-84C9-43FE-9187-A748A467B5C2}" type="presParOf" srcId="{63EB6ACF-D98F-4125-9F98-DFC681A96685}" destId="{964AF4CD-01FC-49C9-8E71-28381AA216CA}" srcOrd="7" destOrd="0" presId="urn:microsoft.com/office/officeart/2005/8/layout/vProcess5"/>
    <dgm:cxn modelId="{664756A7-E93A-45A8-B845-12846E4AFB20}" type="presParOf" srcId="{63EB6ACF-D98F-4125-9F98-DFC681A96685}" destId="{A0FD8A29-0A13-428E-B199-547D5465B354}" srcOrd="8" destOrd="0" presId="urn:microsoft.com/office/officeart/2005/8/layout/vProcess5"/>
    <dgm:cxn modelId="{9C5D78EA-1DBD-4462-8693-D3632536AA4B}" type="presParOf" srcId="{63EB6ACF-D98F-4125-9F98-DFC681A96685}" destId="{E1C01481-0AEF-4515-8686-636CA8BA6D36}" srcOrd="9" destOrd="0" presId="urn:microsoft.com/office/officeart/2005/8/layout/vProcess5"/>
    <dgm:cxn modelId="{708EF315-F67F-43F5-B5D0-A984AD1D0304}" type="presParOf" srcId="{63EB6ACF-D98F-4125-9F98-DFC681A96685}" destId="{D5D45A0D-BCC9-4FB7-BCE7-B7D89D9D7171}" srcOrd="10" destOrd="0" presId="urn:microsoft.com/office/officeart/2005/8/layout/vProcess5"/>
    <dgm:cxn modelId="{58798DB7-2CD0-497C-8F4F-E3CF75CFAD1B}" type="presParOf" srcId="{63EB6ACF-D98F-4125-9F98-DFC681A96685}" destId="{78B4AF9D-CD1F-4A23-8635-861C0AF8ECC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A81A2-A197-43B2-B2E7-3C9A36A0B013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מדובר בסכך תלוי על קיר בעל מנגנון פריסה וקיפול.  </a:t>
          </a:r>
          <a:endParaRPr lang="en-US" sz="2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7017" y="27017"/>
        <a:ext cx="7668958" cy="868383"/>
      </dsp:txXfrm>
    </dsp:sp>
    <dsp:sp modelId="{F62F09FE-5420-4C5B-9A8F-6FE6EF745F5A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המבנה כולל ארבע זרועות מתקפלות שמותחות את הבד בזמן הפתיחה ושני מוטות מקבילים שמחזיקים אותו מתוח.  </a:t>
          </a:r>
          <a:endParaRPr lang="en-US" sz="2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59181" y="1117146"/>
        <a:ext cx="7356493" cy="868383"/>
      </dsp:txXfrm>
    </dsp:sp>
    <dsp:sp modelId="{19A99DEE-5C10-4D1D-AD46-2DA150CD9647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למוטות יש חיבורי קיר שמחברים אותם בבטחה למבנה</a:t>
          </a:r>
          <a:endParaRPr lang="en-US" sz="2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480418" y="2207275"/>
        <a:ext cx="7367421" cy="868383"/>
      </dsp:txXfrm>
    </dsp:sp>
    <dsp:sp modelId="{8AA8C123-3DE1-499F-860E-B6E0C693C226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הזרועות מחוברות באמצעות מחברים ייעודיים השומרים על זווית פתיחה מתכווננת בין 0 ל-89 מעלות, כך שניתן להתאים את ההצללה לפי הצורך.</a:t>
          </a:r>
          <a:endParaRPr lang="en-US" sz="2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212582" y="3297404"/>
        <a:ext cx="7356493" cy="868383"/>
      </dsp:txXfrm>
    </dsp:sp>
    <dsp:sp modelId="{420379FE-B724-40B7-AB1C-7BF956213037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2C8418CC-4DC9-4531-A313-175ADB27B8CE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964AF4CD-01FC-49C9-8E71-28381AA216CA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30AA5D8-146C-4D55-816E-17BCBDDE571E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3060EA8-7636-466E-BB87-E76A615BCF1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84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F863E4-012D-D26B-AB9F-8647D7D37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43CFA2E-30BB-BEB5-DA29-8742FA44C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CD35DFF-01E9-281C-F2D3-14BB17EC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CD437C8-664C-DFB0-E5E6-7178D6FF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6D46285-051A-57C9-F9A0-7B524519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395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3BE66E-EA3F-77EE-90D0-B78BD688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C8150C7-4294-628C-A53D-4688AD555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93756E-2EA9-415D-0A4A-A400ABDF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97738A4-C16B-DEEA-1952-E8F1C97B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39E8F8C-CCCB-FCAC-5166-C113CF17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710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3EB698-6A4A-9C30-786C-12A39F28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CA19C54-4FC0-F66C-ACC4-F2A680264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B051E33-5085-3DC9-992C-BD31FE23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8D7A15E-C84C-7F1A-C5D3-5700597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6CB175A-EEB3-8A01-5484-33367729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644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6C9A2A-1B44-F04C-C9E6-8B0F69E7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054525B-B065-C6E0-6248-D9A405FC7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BA55310-BF19-18A1-519D-76C246EC9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4399662-3505-8967-8B1B-F3C06371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423E06A-6623-52EB-0D51-4275BCD7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80C5C74-0558-B47E-A4CF-F2EDCE8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811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5EB57E-7020-B851-130B-09A1E25B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BCBE532-B208-4311-495D-B671AEAC0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4D16F29-1903-92F0-9B59-340620773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53673DE-C671-B493-BDE5-40E212DA8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D4DD9F8-23C8-9A1C-48F5-235994713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3A43BF4-26F2-7564-10D7-A1931463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A4330AB-7B98-DBDF-982D-218B2E40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11DC8B8-0B5D-6E09-956A-E3E3B2A3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761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FC536D-A641-44EA-4319-1E03024E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B38B5CE-1C4C-77E7-7845-BED43A83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0BA2169-22B9-B7C2-1520-F468605C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882A573-8C20-C48E-C0F7-D525DCFF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174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5395701-9814-AA35-9166-E46DEEC1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8CB787D-D059-007C-A437-20579DF7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D43414C-8C97-0AF1-70BF-712D0DDC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692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00C67A-2674-443F-4271-8489DE29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26C7129-8913-97A4-4A78-E77354FF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F558B24-5DD9-3E06-13CF-7AE35FFE2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99160C5-ECFC-914C-14AE-00F89E88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14FF435-DEAA-9E38-E95B-AD09AB45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3A2CA0A-364A-9885-BD7A-BD01BFD8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108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26E65E-FB9E-7D58-3552-554E1BD8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1346E44-F88F-8673-3AD8-3680B1713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9E58DC8-3DB5-294E-6064-96585FCB5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6B2C70F-D5B5-F2FD-0C11-88FD286F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FFA2448-4576-D257-5AF8-367352E8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DF5AE6E-A252-0D49-5C65-D57E48CB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8395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D8EF44-0F59-7186-19A9-FD102507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8D39EAE-B116-60B3-20BC-0E88EC246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A671B36-9764-DAF6-407B-A1587B41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6AAF72-3054-F582-CF3E-301282B8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8811E3-8C02-DC27-1DDD-0EA2A7F3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375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6E0B9432-0B78-CEF4-1838-94057AD6B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E6A3281-0DFF-EA36-710C-96BD638DA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DB05958-20E0-51F1-50ED-14499908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0B94B5-F8F2-25E1-927E-F2A108B9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C540EFD-E1FB-E69F-246C-C312AEF9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386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09CB2D3-FF41-A734-9122-F4677699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0C7BC51-CA2C-D8A6-4EA8-116FCD46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2068557-AA4A-2BD3-FFC1-04B20F764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30D09-472D-4106-AC54-65C9924EF385}" type="datetimeFigureOut">
              <a:rPr lang="he-IL" smtClean="0"/>
              <a:t>י"א/תמוז/תשפ"ה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6EAA26-7063-285C-CC17-1F05FDE6A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0D304E8-902D-D88C-BDE7-F300F8E67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9D88E-28E2-4387-8951-D978C0EAD1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475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תמונה 4" descr="תמונה שמכילה עיצוב, איור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B5AD84F-8322-5A48-A37E-0017FEE78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" r="19954" b="-1"/>
          <a:stretch>
            <a:fillRect/>
          </a:stretch>
        </p:blipFill>
        <p:spPr>
          <a:xfrm>
            <a:off x="-1" y="190"/>
            <a:ext cx="8128855" cy="5281397"/>
          </a:xfrm>
          <a:prstGeom prst="rect">
            <a:avLst/>
          </a:prstGeom>
        </p:spPr>
      </p:pic>
      <p:sp>
        <p:nvSpPr>
          <p:cNvPr id="29" name="Rectangle 17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7964180-1C94-3ED5-FEE5-33CECD3AF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5" y="5635366"/>
            <a:ext cx="7091299" cy="898581"/>
          </a:xfrm>
        </p:spPr>
        <p:txBody>
          <a:bodyPr anchor="ctr">
            <a:normAutofit/>
          </a:bodyPr>
          <a:lstStyle/>
          <a:p>
            <a:r>
              <a:rPr lang="he-IL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פרויקט שרטוט הנדסי ממוחשב</a:t>
            </a:r>
            <a:br>
              <a:rPr lang="he-IL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סוכך "צל בים"</a:t>
            </a: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7100954-FEBE-05E6-C50B-B33D6DC6B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1507" y="5669430"/>
            <a:ext cx="3291839" cy="830453"/>
          </a:xfrm>
        </p:spPr>
        <p:txBody>
          <a:bodyPr anchor="ctr">
            <a:noAutofit/>
          </a:bodyPr>
          <a:lstStyle/>
          <a:p>
            <a:r>
              <a:rPr lang="he-IL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מודל של סכוך לתלייה במבנה ליד הים על קיר.</a:t>
            </a:r>
          </a:p>
          <a:p>
            <a:r>
              <a:rPr lang="he-IL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שמות המגישים: זכריה בן דורון, מרום שמואלי</a:t>
            </a:r>
          </a:p>
          <a:p>
            <a:r>
              <a:rPr lang="he-IL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07.07.2025</a:t>
            </a:r>
          </a:p>
        </p:txBody>
      </p:sp>
      <p:pic>
        <p:nvPicPr>
          <p:cNvPr id="11" name="תמונה 10" descr="תמונה שמכילה צילום מסך, סרט מצויר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7DBDC28-ACCD-141C-BBF9-6439FC016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7" r="36905" b="2"/>
          <a:stretch>
            <a:fillRect/>
          </a:stretch>
        </p:blipFill>
        <p:spPr>
          <a:xfrm>
            <a:off x="8128856" y="1"/>
            <a:ext cx="4063143" cy="52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3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7D514D6-A000-71DB-1499-5EFF451B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he-IL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צורת הסוכך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2AB1F6AB-DF08-6897-C690-7225E6C9B0AC}"/>
              </a:ext>
            </a:extLst>
          </p:cNvPr>
          <p:cNvSpPr txBox="1">
            <a:spLocks/>
          </p:cNvSpPr>
          <p:nvPr/>
        </p:nvSpPr>
        <p:spPr>
          <a:xfrm>
            <a:off x="1209678" y="15869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e-IL" dirty="0"/>
          </a:p>
        </p:txBody>
      </p:sp>
      <p:graphicFrame>
        <p:nvGraphicFramePr>
          <p:cNvPr id="27" name="מציין מיקום תוכן 2">
            <a:extLst>
              <a:ext uri="{FF2B5EF4-FFF2-40B4-BE49-F238E27FC236}">
                <a16:creationId xmlns:a16="http://schemas.microsoft.com/office/drawing/2014/main" id="{11026BDF-7367-2608-430A-A9C173B39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0660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980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טבלה 21">
            <a:extLst>
              <a:ext uri="{FF2B5EF4-FFF2-40B4-BE49-F238E27FC236}">
                <a16:creationId xmlns:a16="http://schemas.microsoft.com/office/drawing/2014/main" id="{95E53847-688A-AB4F-2B92-393689479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705504"/>
              </p:ext>
            </p:extLst>
          </p:nvPr>
        </p:nvGraphicFramePr>
        <p:xfrm>
          <a:off x="-73152" y="-1"/>
          <a:ext cx="12335256" cy="72207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111752">
                  <a:extLst>
                    <a:ext uri="{9D8B030D-6E8A-4147-A177-3AD203B41FA5}">
                      <a16:colId xmlns:a16="http://schemas.microsoft.com/office/drawing/2014/main" val="2071801300"/>
                    </a:ext>
                  </a:extLst>
                </a:gridCol>
                <a:gridCol w="4111752">
                  <a:extLst>
                    <a:ext uri="{9D8B030D-6E8A-4147-A177-3AD203B41FA5}">
                      <a16:colId xmlns:a16="http://schemas.microsoft.com/office/drawing/2014/main" val="542986377"/>
                    </a:ext>
                  </a:extLst>
                </a:gridCol>
                <a:gridCol w="4111752">
                  <a:extLst>
                    <a:ext uri="{9D8B030D-6E8A-4147-A177-3AD203B41FA5}">
                      <a16:colId xmlns:a16="http://schemas.microsoft.com/office/drawing/2014/main" val="4033279257"/>
                    </a:ext>
                  </a:extLst>
                </a:gridCol>
              </a:tblGrid>
              <a:tr h="318612">
                <a:tc>
                  <a:txBody>
                    <a:bodyPr/>
                    <a:lstStyle/>
                    <a:p>
                      <a:pPr algn="ctr" rtl="1"/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פירוט החלקים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שם החומר ודרך ייצור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שיקולים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472769"/>
                  </a:ext>
                </a:extLst>
              </a:tr>
              <a:tr h="1840993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Arm</a:t>
                      </a:r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0" u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Al-Mg-Si alloy wrought </a:t>
                      </a:r>
                      <a:endParaRPr lang="he-IL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endParaRPr lang="en-US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r>
                        <a:rPr lang="he-IL" sz="1600" b="0" u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סגסוגת של אלומיניום מעורבת עם מגנזיום וסיליקון</a:t>
                      </a:r>
                    </a:p>
                    <a:p>
                      <a:pPr algn="ctr" rtl="1"/>
                      <a:endParaRPr lang="he-IL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r>
                        <a:rPr lang="he-IL" sz="1600" b="0" u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הסגסוגת תתקבל על ידי עיבוד </a:t>
                      </a:r>
                      <a:r>
                        <a:rPr lang="he-IL" sz="1600" b="0" u="none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פסלטי</a:t>
                      </a:r>
                      <a:r>
                        <a:rPr lang="he-IL" sz="1600" b="0" u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אז את הזרועות נייצר על ידי שיחול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יש לחומר יחס משקל </a:t>
                      </a:r>
                      <a:r>
                        <a:rPr lang="he-IL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מצויין</a:t>
                      </a:r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חזק אבל קל, גם יחזיק בעומס המתאים את הסככה וגם יהיה עמיד לתנאי מזג אוויר.</a:t>
                      </a:r>
                    </a:p>
                    <a:p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עמידה </a:t>
                      </a:r>
                      <a:r>
                        <a:rPr lang="he-IL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לקורויזה</a:t>
                      </a:r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מתאימה לסביבה ימית.</a:t>
                      </a:r>
                    </a:p>
                    <a:p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חומר נוח </a:t>
                      </a:r>
                      <a:r>
                        <a:rPr lang="he-IL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לשיחול</a:t>
                      </a:r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 מתעצב בקלות בחום, מאפשר יצירת פרופילים ארוכים ומדויקים לזרועות תוך חיסכון בחומר ושמירה על צורה אחידה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90022"/>
                  </a:ext>
                </a:extLst>
              </a:tr>
              <a:tr h="2230282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 connect left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 connect right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 connect right</a:t>
                      </a:r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 connect left</a:t>
                      </a:r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Engine</a:t>
                      </a:r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Middle connect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Tarp Connect left</a:t>
                      </a:r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Tarp Connect right</a:t>
                      </a:r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Wall connect</a:t>
                      </a:r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Stainless steel austenitic</a:t>
                      </a:r>
                    </a:p>
                    <a:p>
                      <a:pPr algn="ctr" rtl="0"/>
                      <a:r>
                        <a:rPr lang="he-IL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נירוסטה נפוצה בתעשייה לא מגנטית (</a:t>
                      </a:r>
                      <a:r>
                        <a:rPr lang="he-IL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פזאת</a:t>
                      </a:r>
                      <a:r>
                        <a:rPr lang="he-IL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he-IL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אוסטנית</a:t>
                      </a:r>
                      <a:r>
                        <a:rPr lang="he-IL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עמידה מאוד לקורוזיה</a:t>
                      </a: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 rtl="0"/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pPr algn="ctr" rtl="0"/>
                      <a:r>
                        <a:rPr lang="he-IL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תחילה כדי לבדוק אב טיפוס נשתמש בעיבוד שבבי שהוא יותר מדויק וכשנעבור ליצור המוני נעבור לשיטת יציקה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b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עמידות לקורוזיה – מתאימה לסביבה ימית.</a:t>
                      </a:r>
                    </a:p>
                    <a:p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חוזק מכני טוב מאוד – יעמוד בכוחות גזירה, כיפוף ועומסים מחזוריים.</a:t>
                      </a:r>
                    </a:p>
                    <a:p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יציבות במידות – לא מעוות בקלות.</a:t>
                      </a:r>
                    </a:p>
                    <a:p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he-IL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קל לעיבוד שבבי – אפשר לקדוח, להשחיל ולעבד בדיוק גבוה.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736050"/>
                  </a:ext>
                </a:extLst>
              </a:tr>
              <a:tr h="2313432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 beam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Main beam</a:t>
                      </a:r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endParaRPr lang="he-IL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0" u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Aluminum wrought</a:t>
                      </a:r>
                      <a:endParaRPr lang="he-IL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endParaRPr lang="he-IL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r>
                        <a:rPr lang="he-IL" sz="1600" b="0" u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אלומיניום שעבר עיבוד פלסטי</a:t>
                      </a:r>
                      <a:endParaRPr lang="en-US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endParaRPr lang="en-US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endParaRPr lang="en-US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1"/>
                      <a:r>
                        <a:rPr lang="he-IL" sz="1600" b="0" dirty="0"/>
                        <a:t>קל לייצר קורות ארוכות </a:t>
                      </a:r>
                      <a:r>
                        <a:rPr lang="he-IL" sz="1600" b="0" dirty="0" err="1"/>
                        <a:t>בשחול</a:t>
                      </a:r>
                      <a:r>
                        <a:rPr lang="he-IL" sz="1600" b="0" dirty="0"/>
                        <a:t> עם חתך מותאם אישית, בצורה זולה ויעילה.</a:t>
                      </a:r>
                      <a:endParaRPr lang="he-IL" sz="1600" b="0" u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1600" b="0" dirty="0"/>
                        <a:t>חוזק טוב מאוד יחסית למשקל נמוך – מחזיק את כל המבנה בלי להכביד עליו.</a:t>
                      </a:r>
                    </a:p>
                    <a:p>
                      <a:endParaRPr lang="he-IL" sz="1600" b="0" dirty="0"/>
                    </a:p>
                    <a:p>
                      <a:r>
                        <a:rPr lang="he-IL" sz="1600" b="0" dirty="0"/>
                        <a:t>עמידות מצוינת בקורוזיה – מתאים מאוד לשימוש חיצוני ולקרבה לים.</a:t>
                      </a:r>
                    </a:p>
                    <a:p>
                      <a:endParaRPr lang="he-IL" sz="1600" b="0" dirty="0"/>
                    </a:p>
                    <a:p>
                      <a:r>
                        <a:rPr lang="he-IL" sz="1600" b="0" dirty="0"/>
                        <a:t>נוח לעיבוד – אפשר לקדוח, להבריג ולחבר בקלות.</a:t>
                      </a:r>
                    </a:p>
                    <a:p>
                      <a:r>
                        <a:rPr lang="he-IL" sz="1600" b="0" dirty="0"/>
                        <a:t>אסתטי – קל לצבוע.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58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45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985530B8-8EF2-0E14-78C2-8E3805748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168359"/>
              </p:ext>
            </p:extLst>
          </p:nvPr>
        </p:nvGraphicFramePr>
        <p:xfrm>
          <a:off x="1" y="0"/>
          <a:ext cx="12192000" cy="253288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580585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690543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68755139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פירוט החלק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שם החומר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שיקולים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906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Pe- </a:t>
                      </a:r>
                      <a:r>
                        <a:rPr lang="en-US" dirty="0" err="1"/>
                        <a:t>lld</a:t>
                      </a:r>
                      <a:r>
                        <a:rPr lang="en-US" dirty="0"/>
                        <a:t>  </a:t>
                      </a:r>
                    </a:p>
                    <a:p>
                      <a:pPr algn="ctr" rtl="1"/>
                      <a:r>
                        <a:rPr lang="en-US" dirty="0"/>
                        <a:t>Polyethylene – Linear Low Densit</a:t>
                      </a:r>
                    </a:p>
                    <a:p>
                      <a:pPr algn="ctr" rtl="1"/>
                      <a:r>
                        <a:rPr lang="he-IL" dirty="0"/>
                        <a:t>נייצר בעזרת שיחול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נייצר בעזרתו יריעת פלסטיק. החומר מתאפיין בצפיפות נמוכה שמספק גמישות, עמידות לקריעה ועמידות למים, ולכן מתאים במיוחד ליריעות סככה מתקפלת לשימוש חיצוני.</a:t>
                      </a:r>
                    </a:p>
                    <a:p>
                      <a:pPr algn="ctr" rtl="1"/>
                      <a:endParaRPr lang="he-IL" dirty="0"/>
                    </a:p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185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76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E060AE5-1FDD-B32C-43AA-4D0066BAC805}"/>
              </a:ext>
            </a:extLst>
          </p:cNvPr>
          <p:cNvSpPr txBox="1"/>
          <p:nvPr/>
        </p:nvSpPr>
        <p:spPr>
          <a:xfrm>
            <a:off x="7239014" y="525982"/>
            <a:ext cx="4282983" cy="1200361"/>
          </a:xfrm>
          <a:prstGeom prst="rect">
            <a:avLst/>
          </a:prstGeom>
        </p:spPr>
        <p:txBody>
          <a:bodyPr rtlCol="1" anchor="b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he-IL" sz="3600" b="1" u="sng" dirty="0">
                <a:latin typeface="+mj-lt"/>
              </a:rPr>
              <a:t>תיאור </a:t>
            </a:r>
            <a:r>
              <a:rPr lang="he-IL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המנגנון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תמונה 5" descr="תמונה שמכילה עיצוב, איור, אומנות">
            <a:extLst>
              <a:ext uri="{FF2B5EF4-FFF2-40B4-BE49-F238E27FC236}">
                <a16:creationId xmlns:a16="http://schemas.microsoft.com/office/drawing/2014/main" id="{7949EC23-556A-C7BB-B8B1-F9C961DC4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" r="19954" b="-1"/>
          <a:stretch>
            <a:fillRect/>
          </a:stretch>
        </p:blipFill>
        <p:spPr>
          <a:xfrm>
            <a:off x="576244" y="1480883"/>
            <a:ext cx="5628018" cy="366336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863F304-9131-3590-1FBB-AAA7EB9AF5D7}"/>
              </a:ext>
            </a:extLst>
          </p:cNvPr>
          <p:cNvSpPr txBox="1"/>
          <p:nvPr/>
        </p:nvSpPr>
        <p:spPr>
          <a:xfrm>
            <a:off x="7239012" y="2031101"/>
            <a:ext cx="4282984" cy="3511943"/>
          </a:xfrm>
          <a:prstGeom prst="rect">
            <a:avLst/>
          </a:prstGeom>
        </p:spPr>
        <p:txBody>
          <a:bodyPr rtlCol="1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המנגנון כולל שתי זרועות, כאשר בכל אחת מהן מפרק יחיד בחיבור פיני. המפרקים מאפשרים קיפול ופריסה אחידים של הזרועות, בטווח תנועה של 0 עד 89 מעלות. את פעולת המנגנון מפעיל מנוע חשמלי.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91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תמונה 13">
            <a:extLst>
              <a:ext uri="{FF2B5EF4-FFF2-40B4-BE49-F238E27FC236}">
                <a16:creationId xmlns:a16="http://schemas.microsoft.com/office/drawing/2014/main" id="{3C38CD1E-79D6-F433-3A2B-BF81F9FAF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5" y="2303382"/>
            <a:ext cx="1327355" cy="4239986"/>
          </a:xfrm>
          <a:prstGeom prst="rect">
            <a:avLst/>
          </a:prstGeom>
        </p:spPr>
      </p:pic>
      <p:pic>
        <p:nvPicPr>
          <p:cNvPr id="12" name="תמונה 11" descr="תמונה שמכילה קו, תרשים, שרטוט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1CCAC8D-4481-10B3-0320-2694781EB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27" y="2302342"/>
            <a:ext cx="3355704" cy="4241026"/>
          </a:xfrm>
          <a:prstGeom prst="rect">
            <a:avLst/>
          </a:prstGeom>
        </p:spPr>
      </p:pic>
      <p:pic>
        <p:nvPicPr>
          <p:cNvPr id="10" name="תמונה 9" descr="תמונה שמכילה מלבן, שחור ולבן, לבן, טק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F6EA4F9-1B67-0FD0-DEC2-2A2CDD78F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670" y="2302342"/>
            <a:ext cx="3799182" cy="4148296"/>
          </a:xfrm>
          <a:prstGeom prst="rect">
            <a:avLst/>
          </a:prstGeom>
        </p:spPr>
      </p:pic>
      <p:pic>
        <p:nvPicPr>
          <p:cNvPr id="5" name="תמונה 4" descr="תמונה שמכילה מנורה, קו, ק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728BE74-4551-AAC3-22A7-536443DE95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45" r="1371" b="39945"/>
          <a:stretch>
            <a:fillRect/>
          </a:stretch>
        </p:blipFill>
        <p:spPr>
          <a:xfrm>
            <a:off x="83574" y="844002"/>
            <a:ext cx="12024852" cy="924233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2150657-30A6-4DE2-DC2C-E45A8CF188F1}"/>
              </a:ext>
            </a:extLst>
          </p:cNvPr>
          <p:cNvSpPr txBox="1"/>
          <p:nvPr/>
        </p:nvSpPr>
        <p:spPr>
          <a:xfrm>
            <a:off x="3460954" y="314632"/>
            <a:ext cx="543723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מצב סגור 2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F5DD466-F53B-8CE7-6B5D-1026F96E959F}"/>
              </a:ext>
            </a:extLst>
          </p:cNvPr>
          <p:cNvSpPr txBox="1"/>
          <p:nvPr/>
        </p:nvSpPr>
        <p:spPr>
          <a:xfrm>
            <a:off x="5186516" y="1848463"/>
            <a:ext cx="543723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מצב פתוח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3F1E082-0F64-910B-E327-E8F2E33FAF0D}"/>
              </a:ext>
            </a:extLst>
          </p:cNvPr>
          <p:cNvSpPr txBox="1"/>
          <p:nvPr/>
        </p:nvSpPr>
        <p:spPr>
          <a:xfrm>
            <a:off x="943896" y="1848463"/>
            <a:ext cx="543723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מצב חצי פתוח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928837A-D449-A5DC-95C3-9344AEED44AB}"/>
              </a:ext>
            </a:extLst>
          </p:cNvPr>
          <p:cNvSpPr txBox="1"/>
          <p:nvPr/>
        </p:nvSpPr>
        <p:spPr>
          <a:xfrm>
            <a:off x="-3175820" y="1848463"/>
            <a:ext cx="543723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מצב סגור 1</a:t>
            </a:r>
          </a:p>
        </p:txBody>
      </p:sp>
    </p:spTree>
    <p:extLst>
      <p:ext uri="{BB962C8B-B14F-4D97-AF65-F5344CB8AC3E}">
        <p14:creationId xmlns:p14="http://schemas.microsoft.com/office/powerpoint/2010/main" val="108400177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425</Words>
  <Application>Microsoft Office PowerPoint</Application>
  <PresentationFormat>מסך רחב</PresentationFormat>
  <Paragraphs>72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ערכת נושא Office</vt:lpstr>
      <vt:lpstr>פרויקט שרטוט הנדסי ממוחשב סוכך "צל בים"</vt:lpstr>
      <vt:lpstr>צורת הסוכך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Marom Shmueli</dc:creator>
  <cp:lastModifiedBy>Marom Shmueli</cp:lastModifiedBy>
  <cp:revision>2</cp:revision>
  <dcterms:created xsi:type="dcterms:W3CDTF">2025-07-01T15:39:04Z</dcterms:created>
  <dcterms:modified xsi:type="dcterms:W3CDTF">2025-07-07T08:12:55Z</dcterms:modified>
</cp:coreProperties>
</file>